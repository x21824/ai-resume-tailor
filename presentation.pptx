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sldIdLst>
    <p:sldId id="256" r:id="rId2"/>
    <p:sldId id="279" r:id="rId3"/>
    <p:sldId id="258" r:id="rId4"/>
    <p:sldId id="259" r:id="rId5"/>
    <p:sldId id="257" r:id="rId6"/>
    <p:sldId id="260" r:id="rId7"/>
    <p:sldId id="261" r:id="rId8"/>
    <p:sldId id="262" r:id="rId9"/>
    <p:sldId id="263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64" r:id="rId18"/>
    <p:sldId id="265" r:id="rId19"/>
    <p:sldId id="273" r:id="rId20"/>
    <p:sldId id="280" r:id="rId21"/>
    <p:sldId id="274" r:id="rId22"/>
    <p:sldId id="275" r:id="rId23"/>
    <p:sldId id="276" r:id="rId24"/>
    <p:sldId id="277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203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29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9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4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56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93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2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9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30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067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5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43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002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09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5141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35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36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08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2560" y="268333"/>
            <a:ext cx="8598876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565" y="1970592"/>
            <a:ext cx="6554867" cy="2470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556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10428"/>
            <a:ext cx="8077200" cy="2895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Project Planning 101</a:t>
            </a:r>
            <a:br>
              <a:rPr lang="en-US" dirty="0"/>
            </a:br>
            <a:r>
              <a:rPr lang="en-US" dirty="0"/>
              <a:t>and AI integration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Baraa </a:t>
            </a:r>
            <a:r>
              <a:rPr lang="en-US" dirty="0" err="1"/>
              <a:t>shullar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contents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130DB-0F45-4AFB-A41B-7BCE1108C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SDLC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AI in SDLC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Case Study</a:t>
            </a:r>
          </a:p>
          <a:p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233437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Introduction to the Software Development Lifecycle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399" y="3908121"/>
            <a:ext cx="8247345" cy="1905000"/>
          </a:xfrm>
        </p:spPr>
        <p:txBody>
          <a:bodyPr>
            <a:noAutofit/>
          </a:bodyPr>
          <a:lstStyle/>
          <a:p>
            <a:r>
              <a:rPr sz="1500" b="1" dirty="0"/>
              <a:t>What is the SDLC?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500" dirty="0"/>
              <a:t>A structured process used to design, develop, and test software.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500" dirty="0"/>
              <a:t>Provides a framework for managing complexity and ensuring project goals are met.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500" dirty="0"/>
              <a:t>Key Stages (Typical):</a:t>
            </a:r>
          </a:p>
          <a:p>
            <a:pPr marL="685800" lvl="1" indent="-228600">
              <a:buFont typeface="+mj-lt"/>
              <a:buAutoNum type="arabicPeriod"/>
            </a:pPr>
            <a:r>
              <a:rPr sz="1500" dirty="0"/>
              <a:t>Idea/Problem Definition: What problem are we solving?</a:t>
            </a:r>
          </a:p>
          <a:p>
            <a:pPr marL="685800" lvl="1" indent="-228600">
              <a:buFont typeface="+mj-lt"/>
              <a:buAutoNum type="arabicPeriod"/>
            </a:pPr>
            <a:r>
              <a:rPr sz="1500" dirty="0"/>
              <a:t>Planning: What needs to be built? Resources? Timeline?</a:t>
            </a:r>
          </a:p>
          <a:p>
            <a:pPr marL="685800" lvl="1" indent="-228600">
              <a:buFont typeface="+mj-lt"/>
              <a:buAutoNum type="arabicPeriod"/>
            </a:pPr>
            <a:r>
              <a:rPr sz="1500" dirty="0"/>
              <a:t>Design: How will it look and work? What technologies?</a:t>
            </a:r>
          </a:p>
          <a:p>
            <a:pPr marL="685800" lvl="1" indent="-228600">
              <a:buFont typeface="+mj-lt"/>
              <a:buAutoNum type="arabicPeriod"/>
            </a:pPr>
            <a:r>
              <a:rPr sz="1500" dirty="0"/>
              <a:t>Implementation (Coding): Building the actual software.</a:t>
            </a:r>
          </a:p>
          <a:p>
            <a:pPr marL="685800" lvl="1" indent="-228600">
              <a:buFont typeface="+mj-lt"/>
              <a:buAutoNum type="arabicPeriod"/>
            </a:pPr>
            <a:r>
              <a:rPr sz="1500" dirty="0"/>
              <a:t>Testing: Does it work correctly? Does it meet requirements?</a:t>
            </a:r>
          </a:p>
          <a:p>
            <a:pPr marL="685800" lvl="1" indent="-228600">
              <a:buFont typeface="+mj-lt"/>
              <a:buAutoNum type="arabicPeriod"/>
            </a:pPr>
            <a:r>
              <a:rPr sz="1500" dirty="0"/>
              <a:t>Deployment: Making the software available to users.</a:t>
            </a:r>
          </a:p>
          <a:p>
            <a:pPr marL="685800" lvl="1" indent="-228600">
              <a:buFont typeface="+mj-lt"/>
              <a:buAutoNum type="arabicPeriod"/>
            </a:pPr>
            <a:r>
              <a:rPr sz="1500" dirty="0"/>
              <a:t>Maintenance: Ongoing updates and fixes.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AI as Your Planning Assistant</a:t>
            </a:r>
            <a:br>
              <a:rPr lang="en-US" dirty="0"/>
            </a:br>
            <a:r>
              <a:rPr lang="en-US" dirty="0"/>
              <a:t>(</a:t>
            </a:r>
            <a:r>
              <a:rPr dirty="0"/>
              <a:t>External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400" y="3576182"/>
            <a:ext cx="7113740" cy="1905000"/>
          </a:xfrm>
        </p:spPr>
        <p:txBody>
          <a:bodyPr>
            <a:noAutofit/>
          </a:bodyPr>
          <a:lstStyle/>
          <a:p>
            <a:r>
              <a:rPr sz="1500" b="1" dirty="0"/>
              <a:t>Leveraging AI for SDLC Planning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500" dirty="0"/>
              <a:t>Brainstorming: Generate ideas, explore different approaches.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500" dirty="0"/>
              <a:t>Research: Quickly gather information on technologies, competitors, user needs.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500" dirty="0"/>
              <a:t>Outlining: Structure project plans, documentation, feature lists.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500" dirty="0"/>
              <a:t>Risk Assessment: Help identify potential challenges or roadblocks.</a:t>
            </a:r>
          </a:p>
          <a:p>
            <a:r>
              <a:rPr sz="1500" dirty="0"/>
              <a:t>Example: Asking an AI: "Outline the key steps and potential risks for building a web app that scrapes job descriptions and uses an LLM to tailor resumes."</a:t>
            </a:r>
          </a:p>
          <a:p>
            <a:r>
              <a:rPr sz="1500" dirty="0"/>
              <a:t>Key: AI assists your thinking and organization, it doesn't replace the need for clear goals and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400" y="3087668"/>
            <a:ext cx="6383552" cy="1905000"/>
          </a:xfrm>
        </p:spPr>
        <p:txBody>
          <a:bodyPr>
            <a:normAutofit fontScale="85000" lnSpcReduction="10000"/>
          </a:bodyPr>
          <a:lstStyle/>
          <a:p>
            <a:r>
              <a:rPr b="1" dirty="0"/>
              <a:t>Job Seeking Hurdles</a:t>
            </a:r>
          </a:p>
          <a:p>
            <a:r>
              <a:rPr dirty="0"/>
              <a:t>Problem: Applying for multiple jobs often means using the same generic resume.</a:t>
            </a:r>
          </a:p>
          <a:p>
            <a:r>
              <a:rPr dirty="0"/>
              <a:t>Challenge: Job descriptions have unique requirements and keywords. A generic resume rarely stands out.</a:t>
            </a:r>
          </a:p>
          <a:p>
            <a:r>
              <a:rPr dirty="0"/>
              <a:t>Goal: How can we make tailoring resumes faster and more effective?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Case Study: </a:t>
            </a:r>
            <a:r>
              <a:rPr lang="en-US" dirty="0"/>
              <a:t>Idea/problem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399" y="3425870"/>
            <a:ext cx="7539625" cy="1905000"/>
          </a:xfrm>
        </p:spPr>
        <p:txBody>
          <a:bodyPr>
            <a:normAutofit fontScale="92500" lnSpcReduction="20000"/>
          </a:bodyPr>
          <a:lstStyle/>
          <a:p>
            <a:r>
              <a:rPr b="1" dirty="0"/>
              <a:t>Project Idea &amp; Problem Definition</a:t>
            </a:r>
          </a:p>
          <a:p>
            <a:r>
              <a:rPr dirty="0"/>
              <a:t>Problem: Manually tailoring resumes for each job application is time-consuming and prone to missing keywords.</a:t>
            </a:r>
          </a:p>
          <a:p>
            <a:r>
              <a:rPr dirty="0"/>
              <a:t>Idea: Create a tool that automates this process using AI.</a:t>
            </a:r>
          </a:p>
          <a:p>
            <a:r>
              <a:rPr dirty="0"/>
              <a:t>Input: User's resume (.docx) + Job posting URL.</a:t>
            </a:r>
          </a:p>
          <a:p>
            <a:r>
              <a:rPr dirty="0"/>
              <a:t>Output: A tailored resume draft aligned with the job description.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Case Study: Planning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400" y="3425870"/>
            <a:ext cx="7940458" cy="1905000"/>
          </a:xfrm>
        </p:spPr>
        <p:txBody>
          <a:bodyPr>
            <a:noAutofit/>
          </a:bodyPr>
          <a:lstStyle/>
          <a:p>
            <a:r>
              <a:rPr sz="1500" b="1" dirty="0"/>
              <a:t>Defining the Scope &amp; Features</a:t>
            </a:r>
          </a:p>
          <a:p>
            <a:r>
              <a:rPr sz="1500" dirty="0"/>
              <a:t>Core Feature Checklist:</a:t>
            </a:r>
          </a:p>
          <a:p>
            <a:r>
              <a:rPr sz="1500" dirty="0"/>
              <a:t>Allow user to upload a .docx resume file.</a:t>
            </a:r>
          </a:p>
          <a:p>
            <a:r>
              <a:rPr sz="1500" dirty="0"/>
              <a:t>Accept a URL for a job posting.</a:t>
            </a:r>
          </a:p>
          <a:p>
            <a:r>
              <a:rPr sz="1500" dirty="0"/>
              <a:t>Scrape the text content (job description) from the URL.</a:t>
            </a:r>
          </a:p>
          <a:p>
            <a:r>
              <a:rPr sz="1500" dirty="0"/>
              <a:t>Use an AI (Large Language Model) to compare the resume and job description.</a:t>
            </a:r>
          </a:p>
          <a:p>
            <a:r>
              <a:rPr sz="1500" dirty="0"/>
              <a:t>Generate a new, tailored resume draft.</a:t>
            </a:r>
          </a:p>
          <a:p>
            <a:r>
              <a:rPr sz="1500" dirty="0"/>
              <a:t>Display the tailored resume in a user-friendly interface.</a:t>
            </a:r>
          </a:p>
          <a:p>
            <a:r>
              <a:rPr sz="1500" dirty="0"/>
              <a:t>Initial Constraints: Focus on core functionality for MVP (Minimum Viable Product). Local execution via </a:t>
            </a:r>
            <a:r>
              <a:rPr sz="1500" dirty="0" err="1"/>
              <a:t>Streamlit</a:t>
            </a:r>
            <a:r>
              <a:rPr sz="1500" dirty="0"/>
              <a:t> is sufficient for 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Case Study: Design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399" y="3538604"/>
            <a:ext cx="7476995" cy="1905000"/>
          </a:xfrm>
        </p:spPr>
        <p:txBody>
          <a:bodyPr>
            <a:noAutofit/>
          </a:bodyPr>
          <a:lstStyle/>
          <a:p>
            <a:r>
              <a:rPr sz="1500" b="1" dirty="0"/>
              <a:t>Choosing the Right Tools</a:t>
            </a:r>
          </a:p>
          <a:p>
            <a:r>
              <a:rPr sz="1500" dirty="0"/>
              <a:t>User Interface (UI): </a:t>
            </a:r>
            <a:r>
              <a:rPr sz="1500" dirty="0" err="1"/>
              <a:t>Streamlit</a:t>
            </a:r>
            <a:r>
              <a:rPr sz="1500" dirty="0"/>
              <a:t> (Easy to build data apps quickly in Python).</a:t>
            </a:r>
          </a:p>
          <a:p>
            <a:r>
              <a:rPr sz="1500" dirty="0"/>
              <a:t>Resume Reading: python-docx (Handles .docx file parsing).</a:t>
            </a:r>
          </a:p>
          <a:p>
            <a:r>
              <a:rPr sz="1500" dirty="0"/>
              <a:t>Web Scraping: crawl4ai (Handles modern websites, including JavaScript rendering, outputs Markdown).</a:t>
            </a:r>
          </a:p>
          <a:p>
            <a:r>
              <a:rPr sz="1500" dirty="0"/>
              <a:t>AI Core Logic: </a:t>
            </a:r>
            <a:r>
              <a:rPr sz="1500" dirty="0" err="1"/>
              <a:t>OpenAI</a:t>
            </a:r>
            <a:r>
              <a:rPr sz="1500" dirty="0"/>
              <a:t> API (Specifically GPT-3.5-turbo - powerful, accessible).</a:t>
            </a:r>
          </a:p>
          <a:p>
            <a:r>
              <a:rPr sz="1500" dirty="0"/>
              <a:t>Token Management: </a:t>
            </a:r>
            <a:r>
              <a:rPr sz="1500" dirty="0" err="1"/>
              <a:t>tiktoken</a:t>
            </a:r>
            <a:r>
              <a:rPr sz="1500" dirty="0"/>
              <a:t> (Accurate </a:t>
            </a:r>
            <a:r>
              <a:rPr sz="1500" dirty="0" err="1"/>
              <a:t>OpenAI</a:t>
            </a:r>
            <a:r>
              <a:rPr sz="1500" dirty="0"/>
              <a:t> token counting).</a:t>
            </a:r>
          </a:p>
          <a:p>
            <a:r>
              <a:rPr sz="1500" dirty="0"/>
              <a:t>Environment: python-</a:t>
            </a:r>
            <a:r>
              <a:rPr sz="1500" dirty="0" err="1"/>
              <a:t>dotenv</a:t>
            </a:r>
            <a:r>
              <a:rPr sz="1500" dirty="0"/>
              <a:t> (Manage API keys securely).</a:t>
            </a:r>
          </a:p>
          <a:p>
            <a:r>
              <a:rPr sz="1500" dirty="0"/>
              <a:t>Async Handling: </a:t>
            </a:r>
            <a:r>
              <a:rPr sz="1500" dirty="0" err="1"/>
              <a:t>asyncio</a:t>
            </a:r>
            <a:r>
              <a:rPr sz="1500" dirty="0"/>
              <a:t> (Needed for crawl4ai, plus Windows-specific setup).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6856956" cy="2895600"/>
          </a:xfrm>
        </p:spPr>
        <p:txBody>
          <a:bodyPr>
            <a:normAutofit/>
          </a:bodyPr>
          <a:lstStyle/>
          <a:p>
            <a:r>
              <a:rPr dirty="0"/>
              <a:t>Case Study: Implementation Phase (Code Highlights)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399" y="3394555"/>
            <a:ext cx="7476995" cy="1905000"/>
          </a:xfrm>
        </p:spPr>
        <p:txBody>
          <a:bodyPr>
            <a:noAutofit/>
          </a:bodyPr>
          <a:lstStyle/>
          <a:p>
            <a:r>
              <a:rPr sz="1500" b="1" dirty="0"/>
              <a:t>Building the Tool</a:t>
            </a:r>
          </a:p>
          <a:p>
            <a:r>
              <a:rPr sz="1500" dirty="0"/>
              <a:t>Modular Code: Broke down tasks into specific Python functions (extraction, crawling, AI call, etc.).</a:t>
            </a:r>
          </a:p>
          <a:p>
            <a:r>
              <a:rPr sz="1500" dirty="0"/>
              <a:t>API Integration: Securely used the </a:t>
            </a:r>
            <a:r>
              <a:rPr sz="1500" dirty="0" err="1"/>
              <a:t>OpenAI</a:t>
            </a:r>
            <a:r>
              <a:rPr sz="1500" dirty="0"/>
              <a:t> API key via environment variables.</a:t>
            </a:r>
          </a:p>
          <a:p>
            <a:r>
              <a:rPr sz="1500" dirty="0"/>
              <a:t>Asynchronous Operations: Implemented </a:t>
            </a:r>
            <a:r>
              <a:rPr sz="1500" dirty="0" err="1"/>
              <a:t>asyncio</a:t>
            </a:r>
            <a:r>
              <a:rPr sz="1500" dirty="0"/>
              <a:t> for efficient web crawling without blocking the UI.</a:t>
            </a:r>
          </a:p>
          <a:p>
            <a:r>
              <a:rPr sz="1500" dirty="0"/>
              <a:t>Error Handling (Basic): Checked if crawling was successful.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Setup &amp;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400" y="3375766"/>
            <a:ext cx="7470732" cy="1905000"/>
          </a:xfrm>
        </p:spPr>
        <p:txBody>
          <a:bodyPr>
            <a:noAutofit/>
          </a:bodyPr>
          <a:lstStyle/>
          <a:p>
            <a:r>
              <a:rPr sz="1500" b="1" dirty="0"/>
              <a:t>Getting Ready to Run</a:t>
            </a:r>
          </a:p>
          <a:p>
            <a:r>
              <a:rPr sz="1500" dirty="0"/>
              <a:t>Install Libraries:</a:t>
            </a: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pip install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streamlit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python-docx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openai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crawl4ai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tiktoken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python-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dotenv</a:t>
            </a:r>
            <a:endParaRPr sz="1500" dirty="0">
              <a:solidFill>
                <a:srgbClr val="002060"/>
              </a:solidFill>
              <a:latin typeface="OCR A Extended" panose="02010509020102010303" pitchFamily="50" charset="0"/>
            </a:endParaRPr>
          </a:p>
          <a:p>
            <a:r>
              <a:rPr sz="1500" dirty="0"/>
              <a:t>    </a:t>
            </a:r>
          </a:p>
          <a:p>
            <a:r>
              <a:rPr sz="1500" dirty="0"/>
              <a:t>Install Crawler Backend: crawl4ai needs a browser engine:</a:t>
            </a:r>
          </a:p>
          <a:p>
            <a:r>
              <a:rPr sz="1500" dirty="0"/>
              <a:t>      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playwright install    </a:t>
            </a:r>
          </a:p>
          <a:p>
            <a:r>
              <a:rPr sz="1500" dirty="0"/>
              <a:t>API Key: Requires an OPENAI_API_KEY set in a .env file or as an environment variable.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Inside the Project (Internal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400" y="3475974"/>
            <a:ext cx="7151318" cy="1905000"/>
          </a:xfrm>
        </p:spPr>
        <p:txBody>
          <a:bodyPr>
            <a:noAutofit/>
          </a:bodyPr>
          <a:lstStyle/>
          <a:p>
            <a:r>
              <a:rPr sz="1500" dirty="0"/>
              <a:t>The Core Engine: Resume Tailoring</a:t>
            </a:r>
          </a:p>
          <a:p>
            <a:r>
              <a:rPr sz="1500" dirty="0"/>
              <a:t>Model: GPT-3.5-turbo chosen for balance of capability and cost.</a:t>
            </a:r>
          </a:p>
          <a:p>
            <a:r>
              <a:rPr sz="1500" dirty="0"/>
              <a:t>Core Task: Takes the original resume text and the scraped job description text as input.</a:t>
            </a:r>
          </a:p>
          <a:p>
            <a:r>
              <a:rPr sz="1500" dirty="0"/>
              <a:t>AI's Job: Rewrite and reformat the resume, emphasizing skills and experiences relevant to the job description, based on detailed instructions (the prompt).</a:t>
            </a:r>
          </a:p>
          <a:p>
            <a:r>
              <a:rPr sz="1500" dirty="0"/>
              <a:t>Not Just Copy/Paste: The AI infers, rephrases, and restructures – it doesn't just find keywords.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Code Walkthrough: Resume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400" y="3569919"/>
            <a:ext cx="8128348" cy="1905000"/>
          </a:xfrm>
        </p:spPr>
        <p:txBody>
          <a:bodyPr>
            <a:noAutofit/>
          </a:bodyPr>
          <a:lstStyle/>
          <a:p>
            <a:r>
              <a:rPr sz="1500" dirty="0"/>
              <a:t>Getting Text from .docx</a:t>
            </a: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from docx import Document</a:t>
            </a:r>
            <a:endParaRPr sz="1500" dirty="0"/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def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extract_resume_text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(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docx_file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):</a:t>
            </a: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   doc = Document(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docx_file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)</a:t>
            </a: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   # Joins text from all non-empty paragraphs</a:t>
            </a: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   return "\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n".join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([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para.text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for para in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doc.paragraphs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if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para.text.strip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() != ""])</a:t>
            </a:r>
          </a:p>
          <a:p>
            <a:r>
              <a:rPr sz="1500" dirty="0"/>
              <a:t>Uses the python-docx library.</a:t>
            </a:r>
          </a:p>
          <a:p>
            <a:r>
              <a:rPr sz="1500" dirty="0"/>
              <a:t>Iterates through paragraphs in the document.</a:t>
            </a:r>
          </a:p>
          <a:p>
            <a:r>
              <a:rPr sz="1500" dirty="0"/>
              <a:t>Collects text, skipping empty lines.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Code Walkthrough: Website Crawling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400" y="3626286"/>
            <a:ext cx="8397658" cy="1905000"/>
          </a:xfrm>
        </p:spPr>
        <p:txBody>
          <a:bodyPr>
            <a:noAutofit/>
          </a:bodyPr>
          <a:lstStyle/>
          <a:p>
            <a:r>
              <a:rPr sz="1500" dirty="0"/>
              <a:t>Fetching the Job Description</a:t>
            </a: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from crawl4ai import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AsyncWebCrawler</a:t>
            </a:r>
            <a:endParaRPr sz="1500" dirty="0">
              <a:solidFill>
                <a:srgbClr val="002060"/>
              </a:solidFill>
              <a:latin typeface="OCR A Extended" panose="02010509020102010303" pitchFamily="50" charset="0"/>
            </a:endParaRP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import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asyncio</a:t>
            </a:r>
            <a:endParaRPr sz="1500" dirty="0">
              <a:solidFill>
                <a:srgbClr val="002060"/>
              </a:solidFill>
              <a:latin typeface="OCR A Extended" panose="02010509020102010303" pitchFamily="50" charset="0"/>
            </a:endParaRPr>
          </a:p>
          <a:p>
            <a:pPr lvl="1"/>
            <a:endParaRPr sz="1500" dirty="0">
              <a:solidFill>
                <a:srgbClr val="002060"/>
              </a:solidFill>
              <a:latin typeface="OCR A Extended" panose="02010509020102010303" pitchFamily="50" charset="0"/>
            </a:endParaRP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async def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crawl_url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(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url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):</a:t>
            </a: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   async with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AsyncWebCrawler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() as crawler:</a:t>
            </a: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       # '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arun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' executes the crawl asynchronously</a:t>
            </a: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       result = await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crawler.arun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(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url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)</a:t>
            </a: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       # Returns clean markdown text and success status</a:t>
            </a: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       return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result.markdown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,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result.success</a:t>
            </a:r>
            <a:endParaRPr sz="1500" dirty="0">
              <a:solidFill>
                <a:srgbClr val="002060"/>
              </a:solidFill>
              <a:latin typeface="OCR A Extended" panose="02010509020102010303" pitchFamily="50" charset="0"/>
            </a:endParaRPr>
          </a:p>
          <a:p>
            <a:r>
              <a:rPr sz="1500" dirty="0"/>
              <a:t>Uses crawl4ai which leverages Playwright (headless browser).</a:t>
            </a:r>
          </a:p>
          <a:p>
            <a:r>
              <a:rPr sz="1500" dirty="0"/>
              <a:t>Handles JavaScript-heavy sites effectively.</a:t>
            </a:r>
          </a:p>
          <a:p>
            <a:r>
              <a:rPr sz="1500" dirty="0"/>
              <a:t>Returns content in Markdown format for better readability by the AI.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Code Walkthrough: Token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400" y="3726494"/>
            <a:ext cx="6875745" cy="1905000"/>
          </a:xfrm>
        </p:spPr>
        <p:txBody>
          <a:bodyPr>
            <a:noAutofit/>
          </a:bodyPr>
          <a:lstStyle/>
          <a:p>
            <a:r>
              <a:rPr sz="1500" dirty="0"/>
              <a:t>Staying Within Limits &amp; Budget</a:t>
            </a: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import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tiktoken</a:t>
            </a:r>
            <a:endParaRPr sz="1500" dirty="0">
              <a:solidFill>
                <a:srgbClr val="002060"/>
              </a:solidFill>
              <a:latin typeface="OCR A Extended" panose="02010509020102010303" pitchFamily="50" charset="0"/>
            </a:endParaRP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def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count_tokens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(text, model="gpt-3.5-turbo"):</a:t>
            </a: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   # Gets the specific tokenizer for the model</a:t>
            </a: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   enc =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tiktoken.encoding_for_model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(model)</a:t>
            </a: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   # Encodes text to tokens and returns the count</a:t>
            </a:r>
          </a:p>
          <a:p>
            <a:pPr lvl="1"/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    return 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len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(</a:t>
            </a:r>
            <a:r>
              <a:rPr sz="1500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enc.encode</a:t>
            </a:r>
            <a:r>
              <a:rPr sz="1500" dirty="0">
                <a:solidFill>
                  <a:srgbClr val="002060"/>
                </a:solidFill>
                <a:latin typeface="OCR A Extended" panose="02010509020102010303" pitchFamily="50" charset="0"/>
              </a:rPr>
              <a:t>(text))</a:t>
            </a:r>
          </a:p>
          <a:p>
            <a:r>
              <a:rPr sz="1500" dirty="0"/>
              <a:t>Why count? </a:t>
            </a:r>
            <a:r>
              <a:rPr sz="1500" dirty="0" err="1"/>
              <a:t>OpenAI</a:t>
            </a:r>
            <a:r>
              <a:rPr sz="1500" dirty="0"/>
              <a:t> API has input/output token limits (~16k total for GPT-3.5-turbo) and charges per token.</a:t>
            </a:r>
          </a:p>
          <a:p>
            <a:r>
              <a:rPr sz="1500" dirty="0" err="1"/>
              <a:t>tiktoken</a:t>
            </a:r>
            <a:r>
              <a:rPr sz="1500" dirty="0"/>
              <a:t> provides accurate counting specific to the </a:t>
            </a:r>
            <a:r>
              <a:rPr sz="1500" dirty="0" err="1"/>
              <a:t>OpenAI</a:t>
            </a:r>
            <a:r>
              <a:rPr sz="1500" dirty="0"/>
              <a:t> model being used.</a:t>
            </a:r>
          </a:p>
          <a:p>
            <a:r>
              <a:rPr sz="1500" dirty="0"/>
              <a:t>Used to ensure the input (prompt + resume + job desc) doesn't exceed limits, trimming the job description if necessary.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Prompt Engineering (General Concept)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399" y="3732757"/>
            <a:ext cx="7395575" cy="1905000"/>
          </a:xfrm>
        </p:spPr>
        <p:txBody>
          <a:bodyPr>
            <a:noAutofit/>
          </a:bodyPr>
          <a:lstStyle/>
          <a:p>
            <a:r>
              <a:rPr sz="1500" dirty="0"/>
              <a:t>Instructing the AI Effectively</a:t>
            </a:r>
          </a:p>
          <a:p>
            <a:r>
              <a:rPr sz="1500" dirty="0"/>
              <a:t>What is it? Designing the input (the "prompt") given to an AI model to guide its output towards a desired result.</a:t>
            </a:r>
          </a:p>
          <a:p>
            <a:r>
              <a:rPr sz="1500" dirty="0"/>
              <a:t>It's Crucial: AI models are powerful but need clear direction. A vague prompt yields vague or incorrect results.</a:t>
            </a:r>
          </a:p>
          <a:p>
            <a:r>
              <a:rPr sz="1500" dirty="0"/>
              <a:t>Key Elements: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500" dirty="0"/>
              <a:t>Role Playing: "You are an expert resume editor..."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500" dirty="0"/>
              <a:t>Task Definition: "...your task is to enhance the formatting..."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500" dirty="0"/>
              <a:t>Context: Providing the necessary data (resume, job description).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500" dirty="0"/>
              <a:t>Constraints &amp; Rules: Specifying what not to do (e.g., "Do NOT fabricate" "Do NOT include commentary").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500" dirty="0"/>
              <a:t>Output Format: Specifying structure (sections, bullet points).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Prompt Engineering in Our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400" y="3288084"/>
            <a:ext cx="7978036" cy="1905000"/>
          </a:xfrm>
        </p:spPr>
        <p:txBody>
          <a:bodyPr>
            <a:noAutofit/>
          </a:bodyPr>
          <a:lstStyle/>
          <a:p>
            <a:r>
              <a:rPr sz="1500" dirty="0"/>
              <a:t>Specific Instructions for Quality Results</a:t>
            </a:r>
          </a:p>
          <a:p>
            <a:r>
              <a:rPr sz="1500" dirty="0"/>
              <a:t>"You are an expert resume editor..." (Sets the role)</a:t>
            </a:r>
          </a:p>
          <a:p>
            <a:r>
              <a:rPr sz="1500" dirty="0"/>
              <a:t>"You may reasonably infer duties..." (Allows logical additions based on roles)</a:t>
            </a:r>
          </a:p>
          <a:p>
            <a:r>
              <a:rPr sz="1500" dirty="0"/>
              <a:t>"Do NOT fabricate or exaggerate..." (Prevents lying)</a:t>
            </a:r>
          </a:p>
          <a:p>
            <a:r>
              <a:rPr sz="1500" dirty="0"/>
              <a:t>"Exclude duties not needed..." (Focuses relevance)</a:t>
            </a:r>
          </a:p>
          <a:p>
            <a:r>
              <a:rPr sz="1500" dirty="0"/>
              <a:t>"Use a clear resume format..." (Specifies structure)</a:t>
            </a:r>
          </a:p>
          <a:p>
            <a:r>
              <a:rPr sz="1500" dirty="0"/>
              <a:t>"Do NOT copy or repeat parts of the job description..." (Avoids plagiarism)</a:t>
            </a:r>
          </a:p>
          <a:p>
            <a:r>
              <a:rPr sz="1500" dirty="0"/>
              <a:t>"Do NOT include commentary... Only output the tailored resume content." (Critical for clean output)</a:t>
            </a:r>
          </a:p>
          <a:p>
            <a:r>
              <a:rPr sz="1500" dirty="0"/>
              <a:t>"Do NOT include any closing remarks..." (Ensures professional end)</a:t>
            </a:r>
          </a:p>
          <a:p>
            <a:r>
              <a:rPr sz="1500" dirty="0"/>
              <a:t>Result: Guides the AI to produce a professional, relevant, and clean resume draft without extra chatter.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Case Study:</a:t>
            </a:r>
            <a:r>
              <a:rPr lang="en-US" dirty="0"/>
              <a:t> </a:t>
            </a:r>
            <a:r>
              <a:rPr dirty="0"/>
              <a:t>Testing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400" y="3651338"/>
            <a:ext cx="7213948" cy="1905000"/>
          </a:xfrm>
        </p:spPr>
        <p:txBody>
          <a:bodyPr>
            <a:noAutofit/>
          </a:bodyPr>
          <a:lstStyle/>
          <a:p>
            <a:r>
              <a:rPr sz="1500" b="1" dirty="0"/>
              <a:t>Ensuring It Works</a:t>
            </a:r>
          </a:p>
          <a:p>
            <a:r>
              <a:rPr sz="1500" dirty="0"/>
              <a:t>Real-World Data: Tested with various personal resumes and live job postings from different websites.</a:t>
            </a:r>
          </a:p>
          <a:p>
            <a:r>
              <a:rPr sz="1500" dirty="0"/>
              <a:t>Prompt Iteration: Refined the instructions given to the </a:t>
            </a:r>
            <a:r>
              <a:rPr sz="1500" dirty="0" err="1"/>
              <a:t>OpenAI</a:t>
            </a:r>
            <a:r>
              <a:rPr sz="1500" dirty="0"/>
              <a:t> model multiple times to improve output quality and prevent unwanted behavior (like commentary or fabrication).</a:t>
            </a:r>
          </a:p>
          <a:p>
            <a:r>
              <a:rPr sz="1500" dirty="0"/>
              <a:t>Token Limit Testing: Monitored token usage (</a:t>
            </a:r>
            <a:r>
              <a:rPr sz="1500" dirty="0" err="1"/>
              <a:t>tiktoken</a:t>
            </a:r>
            <a:r>
              <a:rPr sz="1500" dirty="0"/>
              <a:t>) and adjusted input trimming logic (for the job description input) to stay within API limits.</a:t>
            </a:r>
          </a:p>
          <a:p>
            <a:r>
              <a:rPr sz="1500" dirty="0"/>
              <a:t>Crawler Reliability: Tested crawl4ai on sites with varying structures and JavaScript usage.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Case Study: Deployment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400" y="3075142"/>
            <a:ext cx="6383552" cy="1905000"/>
          </a:xfrm>
        </p:spPr>
        <p:txBody>
          <a:bodyPr>
            <a:normAutofit fontScale="85000" lnSpcReduction="10000"/>
          </a:bodyPr>
          <a:lstStyle/>
          <a:p>
            <a:r>
              <a:rPr b="1" dirty="0"/>
              <a:t>Making it Usable</a:t>
            </a:r>
          </a:p>
          <a:p>
            <a:r>
              <a:rPr dirty="0"/>
              <a:t>Current Deployment: Runs locally using </a:t>
            </a:r>
            <a:r>
              <a:rPr dirty="0" err="1"/>
              <a:t>streamlit</a:t>
            </a:r>
            <a:r>
              <a:rPr dirty="0"/>
              <a:t> run code.py.</a:t>
            </a:r>
          </a:p>
          <a:p>
            <a:r>
              <a:rPr dirty="0"/>
              <a:t>Simplicity: Easy for anyone with Python setup to run the tool.</a:t>
            </a:r>
          </a:p>
          <a:p>
            <a:r>
              <a:rPr dirty="0"/>
              <a:t>Future Potential: Could be deployed to cloud platforms (like </a:t>
            </a:r>
            <a:r>
              <a:rPr dirty="0" err="1"/>
              <a:t>Streamlit</a:t>
            </a:r>
            <a:r>
              <a:rPr dirty="0"/>
              <a:t> Cloud, Heroku) for wider web access.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Common Pitfalls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400" y="3482237"/>
            <a:ext cx="6383552" cy="1905000"/>
          </a:xfrm>
        </p:spPr>
        <p:txBody>
          <a:bodyPr>
            <a:noAutofit/>
          </a:bodyPr>
          <a:lstStyle/>
          <a:p>
            <a:r>
              <a:rPr sz="1500" dirty="0"/>
              <a:t>Challenges Encountered &amp; How We Addres</a:t>
            </a:r>
            <a:r>
              <a:rPr lang="en-US" sz="1500" dirty="0"/>
              <a:t>s</a:t>
            </a:r>
            <a:r>
              <a:rPr sz="1500" dirty="0"/>
              <a:t> Them</a:t>
            </a:r>
          </a:p>
          <a:p>
            <a:r>
              <a:rPr sz="1500" dirty="0"/>
              <a:t>Problem: AI added extra commentary or greetings ("Here is the resume...", "Let me know...").</a:t>
            </a:r>
          </a:p>
          <a:p>
            <a:pPr lvl="1"/>
            <a:r>
              <a:rPr sz="1500" dirty="0"/>
              <a:t>Solution: Added very specific negative constraints in the prompt (e.g., "Do NOT include commentary," "Do NOT include closing remarks"). Relied on prompt discipline rather than post-processing trim.</a:t>
            </a:r>
          </a:p>
          <a:p>
            <a:r>
              <a:rPr sz="1500" dirty="0"/>
              <a:t>Problem: Input (Resume + Job Desc + Prompt) exceeded </a:t>
            </a:r>
            <a:r>
              <a:rPr sz="1500" dirty="0" err="1"/>
              <a:t>OpenAI</a:t>
            </a:r>
            <a:r>
              <a:rPr sz="1500" dirty="0"/>
              <a:t> token limits.</a:t>
            </a:r>
          </a:p>
          <a:p>
            <a:pPr lvl="1"/>
            <a:r>
              <a:rPr sz="1500" dirty="0"/>
              <a:t>Solution: Implemented </a:t>
            </a:r>
            <a:r>
              <a:rPr sz="1500" dirty="0" err="1"/>
              <a:t>tiktoken</a:t>
            </a:r>
            <a:r>
              <a:rPr sz="1500" dirty="0"/>
              <a:t> counter. Dynamically trimmed the job description input if total tokens were too high, preserving the full resume and prompt.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 of this project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600401-F0EA-4AE6-ACC9-17C6ECE38D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399" y="2542650"/>
            <a:ext cx="715758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Windows Async Fix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Requires a Windows-specific patch to prevent event loop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Job Description Trimming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Trims from the bottom; may cut off key requirements.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Token Limit Handling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summarization; only trims job post to fit 16k token cap.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Post-Processing Cutoff Removed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OCR A Extended" panose="02010509020102010303" pitchFamily="50" charset="0"/>
              </a:rPr>
              <a:t>trim_after_last_section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OCR A Extended" panose="02010509020102010303" pitchFamily="50" charset="0"/>
              </a:rPr>
              <a:t>()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was causing unwanted cutoffs.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Chunking or Batching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Sends a single API call; doesn't support large input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Markdown Format Assumption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Crawler expects clean markdown; some URLs may fail or return junk.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User Session or Data Storage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Resume is processed once with no history or privacy features.</a:t>
            </a:r>
          </a:p>
        </p:txBody>
      </p:sp>
    </p:spTree>
    <p:extLst>
      <p:ext uri="{BB962C8B-B14F-4D97-AF65-F5344CB8AC3E}">
        <p14:creationId xmlns:p14="http://schemas.microsoft.com/office/powerpoint/2010/main" val="455770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400" y="3137772"/>
            <a:ext cx="6383552" cy="1905000"/>
          </a:xfrm>
        </p:spPr>
        <p:txBody>
          <a:bodyPr>
            <a:noAutofit/>
          </a:bodyPr>
          <a:lstStyle/>
          <a:p>
            <a:r>
              <a:rPr sz="1500" dirty="0"/>
              <a:t>Seeing it in Action</a:t>
            </a:r>
          </a:p>
          <a:p>
            <a:r>
              <a:rPr sz="1500" dirty="0"/>
              <a:t>Show the running </a:t>
            </a:r>
            <a:r>
              <a:rPr sz="1500" dirty="0" err="1"/>
              <a:t>Streamlit</a:t>
            </a:r>
            <a:r>
              <a:rPr sz="1500" dirty="0"/>
              <a:t> application interface.</a:t>
            </a:r>
          </a:p>
          <a:p>
            <a:r>
              <a:rPr sz="1500" dirty="0"/>
              <a:t>Upload a sample .docx resume file.</a:t>
            </a:r>
          </a:p>
          <a:p>
            <a:r>
              <a:rPr sz="1500" dirty="0"/>
              <a:t>Paste a URL for a real online job posting.</a:t>
            </a:r>
          </a:p>
          <a:p>
            <a:r>
              <a:rPr sz="1500" dirty="0"/>
              <a:t>Click the "Start Processing" button.</a:t>
            </a:r>
            <a:endParaRPr lang="en-US" sz="1500" dirty="0"/>
          </a:p>
          <a:p>
            <a:r>
              <a:rPr sz="1500" dirty="0"/>
              <a:t>Display the AI-generated tailored resume in the text area.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Features &amp; Enhancements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maintenance/updates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399" y="3093931"/>
            <a:ext cx="7514573" cy="1905000"/>
          </a:xfrm>
        </p:spPr>
        <p:txBody>
          <a:bodyPr>
            <a:noAutofit/>
          </a:bodyPr>
          <a:lstStyle/>
          <a:p>
            <a:r>
              <a:rPr sz="1500" dirty="0"/>
              <a:t>Batch Processing: Input multiple job URLs at once.</a:t>
            </a:r>
          </a:p>
          <a:p>
            <a:r>
              <a:rPr sz="1500" dirty="0"/>
              <a:t>Relevance Scoring: Calculate a "% match" score between resume and job.</a:t>
            </a:r>
          </a:p>
          <a:p>
            <a:r>
              <a:rPr sz="1500" dirty="0"/>
              <a:t>Formatted Output: Export the tailored resume as a properly formatted .docx file.</a:t>
            </a:r>
          </a:p>
          <a:p>
            <a:r>
              <a:rPr sz="1500" dirty="0"/>
              <a:t>UI Improvements: Real-time preview of scraped job description.</a:t>
            </a:r>
          </a:p>
          <a:p>
            <a:r>
              <a:rPr sz="1500" dirty="0"/>
              <a:t>Model Exploration: Fine-tune an open-source LLM for potentially better results or offline use (cost/privacy benefits).</a:t>
            </a:r>
          </a:p>
          <a:p>
            <a:r>
              <a:rPr sz="1500" dirty="0"/>
              <a:t>Cover Letter Generation: Add an option to generate a draft cover letter too.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3400" y="3275558"/>
            <a:ext cx="7332945" cy="1905000"/>
          </a:xfrm>
        </p:spPr>
        <p:txBody>
          <a:bodyPr>
            <a:noAutofit/>
          </a:bodyPr>
          <a:lstStyle/>
          <a:p>
            <a:r>
              <a:rPr sz="1500" b="1" dirty="0"/>
              <a:t>Key Takeaways</a:t>
            </a:r>
          </a:p>
          <a:p>
            <a:r>
              <a:rPr sz="1500" dirty="0"/>
              <a:t>SDLC Provides Structure: Even for AI projects, following SDLC stages (Plan, Design, Build, Test...) brings clarity and manages complexity.</a:t>
            </a:r>
          </a:p>
          <a:p>
            <a:r>
              <a:rPr sz="1500" dirty="0"/>
              <a:t>AI is a Tool, Not Magic: Use AI for what it excels at (rewriting, formatting, pattern matching), but guide it carefully.</a:t>
            </a:r>
          </a:p>
          <a:p>
            <a:r>
              <a:rPr sz="1500" dirty="0"/>
              <a:t>Prompt Engineering is Non-Negotiable: The quality of your instructions directly dictates the quality of the AI's output. Be specific, provide constraints.</a:t>
            </a:r>
          </a:p>
          <a:p>
            <a:r>
              <a:rPr sz="1500" dirty="0"/>
              <a:t>Leverage Existing Tools: Don't reinvent the wheel. Libraries like </a:t>
            </a:r>
            <a:r>
              <a:rPr sz="1500" dirty="0" err="1"/>
              <a:t>Streamlit</a:t>
            </a:r>
            <a:r>
              <a:rPr sz="1500" dirty="0"/>
              <a:t>, python-docx, crawl4ai, </a:t>
            </a:r>
            <a:r>
              <a:rPr sz="1500" dirty="0" err="1"/>
              <a:t>tiktoken</a:t>
            </a:r>
            <a:r>
              <a:rPr sz="1500" dirty="0"/>
              <a:t>, and </a:t>
            </a:r>
            <a:r>
              <a:rPr sz="1500" dirty="0" err="1"/>
              <a:t>OpenAI</a:t>
            </a:r>
            <a:r>
              <a:rPr sz="1500" dirty="0"/>
              <a:t> accelerate development significantly.</a:t>
            </a:r>
          </a:p>
          <a:p>
            <a:r>
              <a:rPr sz="1500" dirty="0"/>
              <a:t>Iterate and Refine: Testing with real data and adjusting prompts/code is essential. Initial results may need improvement.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Custom 1">
      <a:dk1>
        <a:sysClr val="windowText" lastClr="000000"/>
      </a:dk1>
      <a:lt1>
        <a:sysClr val="window" lastClr="FFFFFF"/>
      </a:lt1>
      <a:dk2>
        <a:srgbClr val="81A3BE"/>
      </a:dk2>
      <a:lt2>
        <a:srgbClr val="99C8B9"/>
      </a:lt2>
      <a:accent1>
        <a:srgbClr val="213240"/>
      </a:accent1>
      <a:accent2>
        <a:srgbClr val="81A3BE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111</TotalTime>
  <Words>1998</Words>
  <Application>Microsoft Office PowerPoint</Application>
  <PresentationFormat>On-screen Show (4:3)</PresentationFormat>
  <Paragraphs>178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Century Gothic</vt:lpstr>
      <vt:lpstr>OCR A Extended</vt:lpstr>
      <vt:lpstr>Wingdings 3</vt:lpstr>
      <vt:lpstr>Slice</vt:lpstr>
      <vt:lpstr>Project Planning 101 and AI integration    Baraa shullar</vt:lpstr>
      <vt:lpstr>contents</vt:lpstr>
      <vt:lpstr>Introduction to the Software Development Lifecycle (SDLC)</vt:lpstr>
      <vt:lpstr>AI as Your Planning Assistant (External AI)</vt:lpstr>
      <vt:lpstr>Case study</vt:lpstr>
      <vt:lpstr>Case Study: Idea/problem</vt:lpstr>
      <vt:lpstr>Case Study: Planning Phase</vt:lpstr>
      <vt:lpstr>Case Study: Design &amp; Tech Stack</vt:lpstr>
      <vt:lpstr>Case Study: Implementation Phase (Code Highlights)</vt:lpstr>
      <vt:lpstr>Project Setup &amp; Dependencies</vt:lpstr>
      <vt:lpstr>AI Inside the Project (Internal AI)</vt:lpstr>
      <vt:lpstr>Code Walkthrough: Resume Extraction</vt:lpstr>
      <vt:lpstr>Code Walkthrough: Website Crawling</vt:lpstr>
      <vt:lpstr>Code Walkthrough: Token Management</vt:lpstr>
      <vt:lpstr>Prompt Engineering (General Concept)</vt:lpstr>
      <vt:lpstr>Prompt Engineering in Our Project</vt:lpstr>
      <vt:lpstr>Case Study: Testing Phase</vt:lpstr>
      <vt:lpstr>Case Study: Deployment Phase</vt:lpstr>
      <vt:lpstr>Common Pitfalls &amp; Solutions</vt:lpstr>
      <vt:lpstr>Limitations of this project</vt:lpstr>
      <vt:lpstr>Live Demo Plan</vt:lpstr>
      <vt:lpstr>Future Features &amp; Enhancements: maintenance/updates</vt:lpstr>
      <vt:lpstr>Summary &amp; Lessons Learned</vt:lpstr>
      <vt:lpstr>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subject/>
  <dc:creator/>
  <cp:keywords/>
  <dc:description>generated using python-pptx</dc:description>
  <cp:lastModifiedBy>Baraa' Shullar</cp:lastModifiedBy>
  <cp:revision>57</cp:revision>
  <dcterms:created xsi:type="dcterms:W3CDTF">2013-01-27T09:14:16Z</dcterms:created>
  <dcterms:modified xsi:type="dcterms:W3CDTF">2025-05-03T17:02:36Z</dcterms:modified>
  <cp:category/>
</cp:coreProperties>
</file>